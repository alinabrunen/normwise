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822960"/>
            <a:ext cx="1280160" cy="1280160"/>
          </a:xfrm>
          <a:prstGeom prst="ellipse">
            <a:avLst/>
          </a:prstGeom>
          <a:solidFill>
            <a:srgbClr val="1A3A5C"/>
          </a:solidFill>
          <a:ln w="25400">
            <a:solidFill>
              <a:srgbClr val="1A4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011680" y="9144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NormWise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011680" y="1600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011680" y="2194560"/>
            <a:ext cx="6675120" cy="0"/>
          </a:xfrm>
          <a:prstGeom prst="line">
            <a:avLst/>
          </a:prstGeom>
          <a:noFill/>
          <a:ln w="12700">
            <a:solidFill>
              <a:srgbClr val="1A4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23317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PROCESS FLOWS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11680" y="2834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4A3B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 · DE · FR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333756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9001  ·  ISO 14001  ·  ISO 45001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· Environment · Occupational Health &amp; Safety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normwise.cloud  ·  hello@normwise.cloud  ·  © 2026 NormWise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NormWise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0" y="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Overview — Index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ISO §4–10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685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Process Flows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051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Hauptprozesse  ·  Processus principaux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463040"/>
            <a:ext cx="42976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463040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46304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P-01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95528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Review &amp; Leadership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5528" y="171907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9001·14001·45001  ·  §5.1 / §9.3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8600" y="2029968"/>
            <a:ext cx="42976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029968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1A4FA8"/>
          </a:solidFill>
          <a:ln w="12700">
            <a:solidFill>
              <a:srgbClr val="1A4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029968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P-02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95528" y="20482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Opportunity Management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95528" y="22860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9001·14001·45001  ·  §6.1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8600" y="2596896"/>
            <a:ext cx="42976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596896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596896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P-03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95528" y="26151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Audit Process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5528" y="285292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9001·14001·45001  ·  §9.2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" y="3163824"/>
            <a:ext cx="42976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3163824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163824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P-04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95528" y="3182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Nonconformity &amp; Corrective Action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95528" y="341985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9001·14001·45001  ·  §10.2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28600" y="3730752"/>
            <a:ext cx="42976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730752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373075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P-05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95528" y="3749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Competence &amp; Training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5528" y="398678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9001·14001·45001  ·  §7.2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54880" y="1463040"/>
            <a:ext cx="42976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1463040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46304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P-06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321808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&amp; Record Control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21808" y="171907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9001·14001·45001  ·  §7.5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54880" y="2029968"/>
            <a:ext cx="42976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2029968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1A4FA8"/>
          </a:solidFill>
          <a:ln w="12700">
            <a:solidFill>
              <a:srgbClr val="1A4F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029968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P-07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321808" y="20482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Feedback &amp; Complaints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21808" y="22860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9001  ·  §8.2 / §9.1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54880" y="2596896"/>
            <a:ext cx="42976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2596896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2596896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P-08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321808" y="26151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Aspect Management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21808" y="285292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14001  ·  §6.1.2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0" y="3163824"/>
            <a:ext cx="42976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0" y="3163824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163824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P-09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321808" y="3182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Identification &amp; OH&amp;S Risk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321808" y="341985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45001  ·  §6.1.2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normwise.cloud  ·  ISO 9001 · ISO 14001 · ISO 45001  ·  © 2026 NormWise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NormWise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0" y="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P-01 · Management Review &amp; Leadership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ISO §5.1 / §9.3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65836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583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9001·14001·45001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0200" y="658368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Review  |  Managementbewertung  |  Revue de direction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1078992"/>
            <a:ext cx="1188720" cy="47548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07899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Trigger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1316736"/>
            <a:ext cx="3200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13" name="Shape 11"/>
          <p:cNvSpPr/>
          <p:nvPr/>
        </p:nvSpPr>
        <p:spPr>
          <a:xfrm>
            <a:off x="1691640" y="1078992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1A4FA8"/>
          </a:solidFill>
          <a:ln w="12700">
            <a:solidFill>
              <a:srgbClr val="1A4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1640" y="1078992"/>
            <a:ext cx="14173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Input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· Audits · CAs · Risks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08960" y="1316736"/>
            <a:ext cx="3200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16" name="Shape 14"/>
          <p:cNvSpPr/>
          <p:nvPr/>
        </p:nvSpPr>
        <p:spPr>
          <a:xfrm>
            <a:off x="3429000" y="1078992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1A4FA8"/>
          </a:solidFill>
          <a:ln w="12700">
            <a:solidFill>
              <a:srgbClr val="1A4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078992"/>
            <a:ext cx="14173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Agenda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Review Report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316736"/>
            <a:ext cx="3200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19" name="Shape 17"/>
          <p:cNvSpPr/>
          <p:nvPr/>
        </p:nvSpPr>
        <p:spPr>
          <a:xfrm>
            <a:off x="5166360" y="1078992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1078992"/>
            <a:ext cx="14173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Review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1316736"/>
            <a:ext cx="3200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22" name="Shape 20"/>
          <p:cNvSpPr/>
          <p:nvPr/>
        </p:nvSpPr>
        <p:spPr>
          <a:xfrm>
            <a:off x="6903720" y="1078992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1A4FA8"/>
          </a:solidFill>
          <a:ln w="12700">
            <a:solidFill>
              <a:srgbClr val="1A4F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1078992"/>
            <a:ext cx="14173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&amp; Actions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321040" y="1316736"/>
            <a:ext cx="2743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25" name="Shape 23"/>
          <p:cNvSpPr/>
          <p:nvPr/>
        </p:nvSpPr>
        <p:spPr>
          <a:xfrm>
            <a:off x="8595360" y="1078992"/>
            <a:ext cx="411480" cy="475488"/>
          </a:xfrm>
          <a:prstGeom prst="roundRect">
            <a:avLst>
              <a:gd name="adj" fmla="val 57778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0" y="1078992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07808" y="1554480"/>
            <a:ext cx="0" cy="32004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28" name="Shape 26"/>
          <p:cNvSpPr/>
          <p:nvPr/>
        </p:nvSpPr>
        <p:spPr>
          <a:xfrm>
            <a:off x="6903720" y="1920240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1920240"/>
            <a:ext cx="14173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Actions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Deadlines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03720" y="2157984"/>
            <a:ext cx="-3200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31" name="Text 29"/>
          <p:cNvSpPr/>
          <p:nvPr/>
        </p:nvSpPr>
        <p:spPr>
          <a:xfrm>
            <a:off x="6469380" y="1956816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166360" y="1920240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1920240"/>
            <a:ext cx="14173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66360" y="2157984"/>
            <a:ext cx="-3200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35" name="Text 33"/>
          <p:cNvSpPr/>
          <p:nvPr/>
        </p:nvSpPr>
        <p:spPr>
          <a:xfrm>
            <a:off x="4732020" y="1956816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429000" y="1920240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9000" y="1920240"/>
            <a:ext cx="14173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Effectiveness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Actions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29000" y="2157984"/>
            <a:ext cx="-3200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39" name="Text 37"/>
          <p:cNvSpPr/>
          <p:nvPr/>
        </p:nvSpPr>
        <p:spPr>
          <a:xfrm>
            <a:off x="2994660" y="1956816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691640" y="1920240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91640" y="1920240"/>
            <a:ext cx="14173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Risk Register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Objectives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82880" y="265176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" y="26700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 Required Inputs — Erforderliche Eingaben — Données d'entrée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20040" y="296265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performance data / Leistungskennzahlen / Données de performance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20040" y="316382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&amp; external audit results / Auditergebnisse / Résultats d'audit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20040" y="33649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feedback &amp; complaints / Kundenfeedback / Retours clients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20040" y="35661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of risks &amp; opportunities / Risiken &amp; Chancen / Risques et opportunités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20040" y="37673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adequacy / Ressourcen / Adéquation des ressources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617720" y="2651760"/>
            <a:ext cx="4297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26700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 Required Outputs — Ergebnisse — Résultats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09160" y="296265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of management review / Protokoll / Compte rendu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09160" y="31638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opportunities / Verbesserungsmöglichkeiten / Opportunités d'amélioration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709160" y="33649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decisions / Ressourcenentscheidungen / Décisions ressources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709160" y="356616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objectives / Aktualisierte Ziele / Objectifs mis à jour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709160" y="376732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plan with owners &amp; deadlines / Maßnahmenplan / Plan d'action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normwise.cloud  ·  ISO 9001 · ISO 14001 · ISO 45001  ·  © 2026 NormWise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NormWise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0" y="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P-02 · Risk &amp; Opportunity Management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ISO §6.1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65836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583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9001·14001·45001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0200" y="658368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Risikomanagement  |  Risikomanagement  |  Gestion des risques et opportunités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" y="105156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10515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cycle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43000" y="1280160"/>
            <a:ext cx="228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13" name="Shape 11"/>
          <p:cNvSpPr/>
          <p:nvPr/>
        </p:nvSpPr>
        <p:spPr>
          <a:xfrm>
            <a:off x="1371600" y="105156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1A4FA8"/>
          </a:solidFill>
          <a:ln w="12700">
            <a:solidFill>
              <a:srgbClr val="1A4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1051560"/>
            <a:ext cx="1280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Identify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Opportunities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51760" y="1280160"/>
            <a:ext cx="228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16" name="Shape 14"/>
          <p:cNvSpPr/>
          <p:nvPr/>
        </p:nvSpPr>
        <p:spPr>
          <a:xfrm>
            <a:off x="2880360" y="105156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1A4FA8"/>
          </a:solidFill>
          <a:ln w="12700">
            <a:solidFill>
              <a:srgbClr val="1A4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0360" y="1051560"/>
            <a:ext cx="1280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Analyse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× Impact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60520" y="1280160"/>
            <a:ext cx="228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19" name="Shape 17"/>
          <p:cNvSpPr/>
          <p:nvPr/>
        </p:nvSpPr>
        <p:spPr>
          <a:xfrm>
            <a:off x="4389120" y="1005840"/>
            <a:ext cx="1188720" cy="548640"/>
          </a:xfrm>
          <a:prstGeom prst="diamond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1005840"/>
            <a:ext cx="1188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High?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77840" y="1280160"/>
            <a:ext cx="228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22" name="Text 20"/>
          <p:cNvSpPr/>
          <p:nvPr/>
        </p:nvSpPr>
        <p:spPr>
          <a:xfrm>
            <a:off x="5417820" y="10789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806440" y="105156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1051560"/>
            <a:ext cx="1280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Plan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Actions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86600" y="1280160"/>
            <a:ext cx="228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26" name="Shape 24"/>
          <p:cNvSpPr/>
          <p:nvPr/>
        </p:nvSpPr>
        <p:spPr>
          <a:xfrm>
            <a:off x="7315200" y="105156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1051560"/>
            <a:ext cx="1280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Implement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Monitor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83480" y="1554480"/>
            <a:ext cx="0" cy="36576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29" name="Text 27"/>
          <p:cNvSpPr/>
          <p:nvPr/>
        </p:nvSpPr>
        <p:spPr>
          <a:xfrm>
            <a:off x="5029200" y="16002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— Accept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389120" y="192024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1920240"/>
            <a:ext cx="1188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&amp; Monitor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Risks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55280" y="1508760"/>
            <a:ext cx="0" cy="50292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11680" y="2011680"/>
            <a:ext cx="5943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34" name="Text 32"/>
          <p:cNvSpPr/>
          <p:nvPr/>
        </p:nvSpPr>
        <p:spPr>
          <a:xfrm>
            <a:off x="2743200" y="18288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Review Loop / Vierteljährliche Überprüfung / Revue trimestrielle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37160" y="2423160"/>
            <a:ext cx="4389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24505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Matrix — Risikomatrix — Matrice des risques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56032" y="2788920"/>
            <a:ext cx="182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2788920"/>
            <a:ext cx="640080" cy="420624"/>
          </a:xfrm>
          <a:prstGeom prst="rect">
            <a:avLst/>
          </a:prstGeom>
          <a:solidFill>
            <a:srgbClr val="FEE2E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2788920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097280" y="2788920"/>
            <a:ext cx="640080" cy="420624"/>
          </a:xfrm>
          <a:prstGeom prst="rect">
            <a:avLst/>
          </a:prstGeom>
          <a:solidFill>
            <a:srgbClr val="FEE2E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7280" y="2788920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737360" y="2788920"/>
            <a:ext cx="640080" cy="420624"/>
          </a:xfrm>
          <a:prstGeom prst="rect">
            <a:avLst/>
          </a:prstGeom>
          <a:solidFill>
            <a:srgbClr val="FEE2E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37360" y="2788920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377440" y="2788920"/>
            <a:ext cx="640080" cy="420624"/>
          </a:xfrm>
          <a:prstGeom prst="rect">
            <a:avLst/>
          </a:prstGeom>
          <a:solidFill>
            <a:srgbClr val="FEE2E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77440" y="2788920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017520" y="2788920"/>
            <a:ext cx="640080" cy="420624"/>
          </a:xfrm>
          <a:prstGeom prst="rect">
            <a:avLst/>
          </a:prstGeom>
          <a:solidFill>
            <a:srgbClr val="FEE2E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0" y="2788920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6032" y="3209544"/>
            <a:ext cx="182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7200" y="3209544"/>
            <a:ext cx="640080" cy="420624"/>
          </a:xfrm>
          <a:prstGeom prst="rect">
            <a:avLst/>
          </a:prstGeom>
          <a:solidFill>
            <a:srgbClr val="FEF3C7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209544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097280" y="3209544"/>
            <a:ext cx="640080" cy="420624"/>
          </a:xfrm>
          <a:prstGeom prst="rect">
            <a:avLst/>
          </a:prstGeom>
          <a:solidFill>
            <a:srgbClr val="FEE2E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97280" y="3209544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737360" y="3209544"/>
            <a:ext cx="640080" cy="420624"/>
          </a:xfrm>
          <a:prstGeom prst="rect">
            <a:avLst/>
          </a:prstGeom>
          <a:solidFill>
            <a:srgbClr val="FEE2E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37360" y="3209544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377440" y="3209544"/>
            <a:ext cx="640080" cy="420624"/>
          </a:xfrm>
          <a:prstGeom prst="rect">
            <a:avLst/>
          </a:prstGeom>
          <a:solidFill>
            <a:srgbClr val="FEE2E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77440" y="3209544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017520" y="3209544"/>
            <a:ext cx="640080" cy="420624"/>
          </a:xfrm>
          <a:prstGeom prst="rect">
            <a:avLst/>
          </a:prstGeom>
          <a:solidFill>
            <a:srgbClr val="FEE2E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17520" y="3209544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56032" y="3630168"/>
            <a:ext cx="182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57200" y="3630168"/>
            <a:ext cx="640080" cy="420624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3630168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097280" y="3630168"/>
            <a:ext cx="640080" cy="420624"/>
          </a:xfrm>
          <a:prstGeom prst="rect">
            <a:avLst/>
          </a:prstGeom>
          <a:solidFill>
            <a:srgbClr val="FEF3C7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97280" y="3630168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737360" y="3630168"/>
            <a:ext cx="640080" cy="420624"/>
          </a:xfrm>
          <a:prstGeom prst="rect">
            <a:avLst/>
          </a:prstGeom>
          <a:solidFill>
            <a:srgbClr val="FEF3C7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737360" y="3630168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377440" y="3630168"/>
            <a:ext cx="640080" cy="420624"/>
          </a:xfrm>
          <a:prstGeom prst="rect">
            <a:avLst/>
          </a:prstGeom>
          <a:solidFill>
            <a:srgbClr val="FEE2E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377440" y="3630168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017520" y="3630168"/>
            <a:ext cx="640080" cy="420624"/>
          </a:xfrm>
          <a:prstGeom prst="rect">
            <a:avLst/>
          </a:prstGeom>
          <a:solidFill>
            <a:srgbClr val="FEE2E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017520" y="3630168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256032" y="4050792"/>
            <a:ext cx="182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57200" y="4050792"/>
            <a:ext cx="640080" cy="420624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050792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097280" y="4050792"/>
            <a:ext cx="640080" cy="420624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97280" y="4050792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1737360" y="4050792"/>
            <a:ext cx="640080" cy="420624"/>
          </a:xfrm>
          <a:prstGeom prst="rect">
            <a:avLst/>
          </a:prstGeom>
          <a:solidFill>
            <a:srgbClr val="FEF3C7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737360" y="4050792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377440" y="4050792"/>
            <a:ext cx="640080" cy="420624"/>
          </a:xfrm>
          <a:prstGeom prst="rect">
            <a:avLst/>
          </a:prstGeom>
          <a:solidFill>
            <a:srgbClr val="FEF3C7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377440" y="4050792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3017520" y="4050792"/>
            <a:ext cx="640080" cy="420624"/>
          </a:xfrm>
          <a:prstGeom prst="rect">
            <a:avLst/>
          </a:prstGeom>
          <a:solidFill>
            <a:srgbClr val="FEE2E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017520" y="4050792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256032" y="4471416"/>
            <a:ext cx="182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57200" y="4471416"/>
            <a:ext cx="640080" cy="420624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57200" y="4471416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097280" y="4471416"/>
            <a:ext cx="640080" cy="420624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97280" y="4471416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1737360" y="4471416"/>
            <a:ext cx="640080" cy="420624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737360" y="4471416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2377440" y="4471416"/>
            <a:ext cx="640080" cy="420624"/>
          </a:xfrm>
          <a:prstGeom prst="rect">
            <a:avLst/>
          </a:prstGeom>
          <a:solidFill>
            <a:srgbClr val="FEF3C7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377440" y="4471416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3017520" y="4471416"/>
            <a:ext cx="640080" cy="420624"/>
          </a:xfrm>
          <a:prstGeom prst="rect">
            <a:avLst/>
          </a:prstGeom>
          <a:solidFill>
            <a:srgbClr val="FEF3C7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017520" y="4471416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45720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10972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173736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237744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301752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914400" y="49103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→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256032" y="341985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3657600" y="2788920"/>
            <a:ext cx="274320" cy="228600"/>
          </a:xfrm>
          <a:prstGeom prst="rect">
            <a:avLst/>
          </a:prstGeom>
          <a:solidFill>
            <a:srgbClr val="FEE2E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977640" y="27889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(16–25)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3657600" y="3108960"/>
            <a:ext cx="274320" cy="228600"/>
          </a:xfrm>
          <a:prstGeom prst="rect">
            <a:avLst/>
          </a:prstGeom>
          <a:solidFill>
            <a:srgbClr val="FEF3C7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977640" y="3108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(9–15)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3657600" y="3429000"/>
            <a:ext cx="274320" cy="228600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977640" y="34290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(1–8)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4663440" y="2423160"/>
            <a:ext cx="4297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754880" y="24505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Strategies — Maßnahmenstrategien — Stratégies de traitement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4754880" y="2788920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800600" y="2788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/ Vermeiden / Éviter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the risk by changing the process or activity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4754880" y="3099816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800600" y="309981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/ Reduzieren / Réduire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controls to lower probability or impact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4754880" y="3410712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6350">
            <a:solidFill>
              <a:srgbClr val="1A4FA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800600" y="34107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/ Übertragen / Transférer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Insurance, outsourcing, contractual risk transfer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4754880" y="3721608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800600" y="37216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/ Akzeptieren / Accepter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low risks; document acceptance decision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4754880" y="4032504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800600" y="403250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 / Nutzen / Exploiter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opportunities: take actions to realize the benefit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normwise.cloud  ·  ISO 9001 · ISO 14001 · ISO 45001  ·  © 2026 NormWise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NormWise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0" y="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P-03 · Internal Audit Process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ISO §9.2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65836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583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9001·14001·45001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0200" y="658368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Internes Audit  |  Internes Audit  |  Audit interne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987552"/>
            <a:ext cx="1581912" cy="256032"/>
          </a:xfrm>
          <a:prstGeom prst="roundRect">
            <a:avLst>
              <a:gd name="adj" fmla="val 1428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98755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47672" y="987552"/>
            <a:ext cx="1581912" cy="256032"/>
          </a:xfrm>
          <a:prstGeom prst="roundRect">
            <a:avLst>
              <a:gd name="adj" fmla="val 14286"/>
            </a:avLst>
          </a:prstGeom>
          <a:solidFill>
            <a:srgbClr val="1A4FA8"/>
          </a:solidFill>
          <a:ln w="12700">
            <a:solidFill>
              <a:srgbClr val="1A4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47672" y="98755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12464" y="987552"/>
            <a:ext cx="1581912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2464" y="98755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77256" y="987552"/>
            <a:ext cx="1581912" cy="256032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77256" y="98755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42048" y="987552"/>
            <a:ext cx="1581912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42048" y="98755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1353312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1353312"/>
            <a:ext cx="1417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Audit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&amp; Schedule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00200" y="1604772"/>
            <a:ext cx="34747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23" name="Shape 21"/>
          <p:cNvSpPr/>
          <p:nvPr/>
        </p:nvSpPr>
        <p:spPr>
          <a:xfrm>
            <a:off x="1947672" y="1353312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1A4FA8"/>
          </a:solidFill>
          <a:ln w="12700">
            <a:solidFill>
              <a:srgbClr val="1A4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47672" y="1353312"/>
            <a:ext cx="1417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Auditors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Assign Scope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64992" y="1604772"/>
            <a:ext cx="34747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26" name="Shape 24"/>
          <p:cNvSpPr/>
          <p:nvPr/>
        </p:nvSpPr>
        <p:spPr>
          <a:xfrm>
            <a:off x="3712464" y="1353312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12464" y="1353312"/>
            <a:ext cx="1417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Opening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29784" y="1604772"/>
            <a:ext cx="34747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29" name="Shape 27"/>
          <p:cNvSpPr/>
          <p:nvPr/>
        </p:nvSpPr>
        <p:spPr>
          <a:xfrm>
            <a:off x="5477256" y="1353312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77256" y="1353312"/>
            <a:ext cx="1417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Evidence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Observations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94576" y="1604772"/>
            <a:ext cx="34747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32" name="Shape 30"/>
          <p:cNvSpPr/>
          <p:nvPr/>
        </p:nvSpPr>
        <p:spPr>
          <a:xfrm>
            <a:off x="7242048" y="1353312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42048" y="1353312"/>
            <a:ext cx="1417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Meeting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Summary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705088" y="1856232"/>
            <a:ext cx="0" cy="15544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0" y="2011680"/>
            <a:ext cx="93268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36" name="Shape 34"/>
          <p:cNvSpPr/>
          <p:nvPr/>
        </p:nvSpPr>
        <p:spPr>
          <a:xfrm>
            <a:off x="7772400" y="201168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0" y="2011680"/>
            <a:ext cx="1417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Audit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772400" y="2263140"/>
            <a:ext cx="-34747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39" name="Text 37"/>
          <p:cNvSpPr/>
          <p:nvPr/>
        </p:nvSpPr>
        <p:spPr>
          <a:xfrm>
            <a:off x="7324344" y="206197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007608" y="201168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07608" y="2011680"/>
            <a:ext cx="1417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07608" y="2263140"/>
            <a:ext cx="-34747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43" name="Text 41"/>
          <p:cNvSpPr/>
          <p:nvPr/>
        </p:nvSpPr>
        <p:spPr>
          <a:xfrm>
            <a:off x="5559552" y="206197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242816" y="1956816"/>
            <a:ext cx="1417320" cy="612648"/>
          </a:xfrm>
          <a:prstGeom prst="diamond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42816" y="1956816"/>
            <a:ext cx="1417320" cy="612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Nonconformities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Found?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242816" y="2263140"/>
            <a:ext cx="-34747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47" name="Text 45"/>
          <p:cNvSpPr/>
          <p:nvPr/>
        </p:nvSpPr>
        <p:spPr>
          <a:xfrm>
            <a:off x="3794760" y="206197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478024" y="201168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78024" y="2011680"/>
            <a:ext cx="1417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CAR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478024" y="2263140"/>
            <a:ext cx="-34747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51" name="Text 49"/>
          <p:cNvSpPr/>
          <p:nvPr/>
        </p:nvSpPr>
        <p:spPr>
          <a:xfrm>
            <a:off x="2029968" y="206197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13232" y="201168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" y="2011680"/>
            <a:ext cx="1417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CA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Effectiveness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951476" y="2569464"/>
            <a:ext cx="0" cy="29260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55" name="Text 53"/>
          <p:cNvSpPr/>
          <p:nvPr/>
        </p:nvSpPr>
        <p:spPr>
          <a:xfrm>
            <a:off x="4745736" y="25786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105656" y="2862072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05656" y="2862072"/>
            <a:ext cx="16916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Audit — No CARs Required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82880" y="2788920"/>
            <a:ext cx="42062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28163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Checklist — Audit-Checkliste — Liste de vérification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74320" y="31089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commitment / Führungsverpflichtung / Engagement direction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74320" y="33101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communicated / Politik kommuniziert / Politique communiquée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274320" y="351129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set &amp; monitored / Ziele gesetzt / Objectifs définis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74320" y="371246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identified &amp; treated / Risiken behandelt / Risques traités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274320" y="391363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Competence records available / Kompetenznachweis / Dossiers compétence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274320" y="411480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audit program followed / Auditprogramm / Programme audit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572000" y="2788920"/>
            <a:ext cx="43891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63440" y="281635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Requirements — Anforderungen — Exigences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63440" y="3108960"/>
            <a:ext cx="640080" cy="173736"/>
          </a:xfrm>
          <a:prstGeom prst="roundRect">
            <a:avLst>
              <a:gd name="adj" fmla="val 1578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663440" y="3108960"/>
            <a:ext cx="640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349240" y="3108960"/>
            <a:ext cx="3520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annually / Mind. jährlich / Au moins annuellement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663440" y="3310128"/>
            <a:ext cx="640080" cy="173736"/>
          </a:xfrm>
          <a:prstGeom prst="roundRect">
            <a:avLst>
              <a:gd name="adj" fmla="val 15789"/>
            </a:avLst>
          </a:prstGeom>
          <a:solidFill>
            <a:srgbClr val="1A4FA8"/>
          </a:solidFill>
          <a:ln w="12700">
            <a:solidFill>
              <a:srgbClr val="1A4FA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63440" y="3310128"/>
            <a:ext cx="640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349240" y="3310128"/>
            <a:ext cx="3520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not audit own work / Nicht eigene Arbeit / Pas son propre travail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663440" y="3511296"/>
            <a:ext cx="640080" cy="173736"/>
          </a:xfrm>
          <a:prstGeom prst="roundRect">
            <a:avLst>
              <a:gd name="adj" fmla="val 1578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663440" y="3511296"/>
            <a:ext cx="640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349240" y="3511296"/>
            <a:ext cx="3520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clauses + organization procedures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663440" y="3712464"/>
            <a:ext cx="640080" cy="173736"/>
          </a:xfrm>
          <a:prstGeom prst="roundRect">
            <a:avLst>
              <a:gd name="adj" fmla="val 1578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663440" y="3712464"/>
            <a:ext cx="640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349240" y="3712464"/>
            <a:ext cx="3520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records required for every finding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663440" y="3913632"/>
            <a:ext cx="640080" cy="173736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663440" y="3913632"/>
            <a:ext cx="640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5349240" y="3913632"/>
            <a:ext cx="3520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 within 5 working days of closing meeting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663440" y="4114800"/>
            <a:ext cx="640080" cy="173736"/>
          </a:xfrm>
          <a:prstGeom prst="roundRect">
            <a:avLst>
              <a:gd name="adj" fmla="val 1578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663440" y="4114800"/>
            <a:ext cx="640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5349240" y="4114800"/>
            <a:ext cx="3520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effectiveness verified within agreed timeframe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normwise.cloud  ·  ISO 9001 · ISO 14001 · ISO 45001  ·  © 2026 NormWise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NormWise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0" y="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P-04 · Nonconformity &amp; Corrective Action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ISO §10.2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65836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583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9001·14001·45001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0200" y="658368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Korrekturmaßnahmen  |  Korrekturmaßnahmen  |  Actions correctives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987552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987552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Nonconformity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(NC Source)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88720" y="1490472"/>
            <a:ext cx="0" cy="10972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13" name="Shape 11"/>
          <p:cNvSpPr/>
          <p:nvPr/>
        </p:nvSpPr>
        <p:spPr>
          <a:xfrm>
            <a:off x="182880" y="160020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600200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 Immediate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(Correction)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88720" y="2103120"/>
            <a:ext cx="0" cy="10972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16" name="Shape 14"/>
          <p:cNvSpPr/>
          <p:nvPr/>
        </p:nvSpPr>
        <p:spPr>
          <a:xfrm>
            <a:off x="182880" y="221284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1A4FA8"/>
          </a:solidFill>
          <a:ln w="12700">
            <a:solidFill>
              <a:srgbClr val="1A4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2212848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 Why / Ishikawa)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88720" y="2715768"/>
            <a:ext cx="0" cy="10972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19" name="Shape 17"/>
          <p:cNvSpPr/>
          <p:nvPr/>
        </p:nvSpPr>
        <p:spPr>
          <a:xfrm>
            <a:off x="182880" y="2825496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2825496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Corrective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(CAR)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88720" y="3328416"/>
            <a:ext cx="0" cy="10972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22" name="Shape 20"/>
          <p:cNvSpPr/>
          <p:nvPr/>
        </p:nvSpPr>
        <p:spPr>
          <a:xfrm>
            <a:off x="182880" y="3438144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3438144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Effectiveness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88720" y="3941064"/>
            <a:ext cx="0" cy="10972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25" name="Shape 23"/>
          <p:cNvSpPr/>
          <p:nvPr/>
        </p:nvSpPr>
        <p:spPr>
          <a:xfrm>
            <a:off x="182880" y="4050792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050792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CAR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Records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23160" y="987552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14600" y="10058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 Sources — Quellen — Sources de NC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14600" y="129844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complaint / Kundenbeschwerde / Réclamation client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514600" y="149961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audit finding / Auditfeststellung / Constat d'audit interne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514600" y="170078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audit finding / Externes Audit / Audit externe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514600" y="19019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deviation / Prozessabweichung / Écart de processus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514600" y="210312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observation / Mitarbeiterbeobachtung / Observation employé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423160" y="2395728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14600" y="24231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Tools — Werkzeuge — Outils analyse causes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14600" y="2715768"/>
            <a:ext cx="640080" cy="173736"/>
          </a:xfrm>
          <a:prstGeom prst="roundRect">
            <a:avLst>
              <a:gd name="adj" fmla="val 15789"/>
            </a:avLst>
          </a:prstGeom>
          <a:solidFill>
            <a:srgbClr val="1A4FA8"/>
          </a:solidFill>
          <a:ln w="12700">
            <a:solidFill>
              <a:srgbClr val="1A4F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2715768"/>
            <a:ext cx="640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Why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200400" y="2715768"/>
            <a:ext cx="2194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'why' 5 times to reach root cause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514600" y="2916936"/>
            <a:ext cx="640080" cy="173736"/>
          </a:xfrm>
          <a:prstGeom prst="roundRect">
            <a:avLst>
              <a:gd name="adj" fmla="val 1578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916936"/>
            <a:ext cx="640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Ishikawa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200400" y="2916936"/>
            <a:ext cx="2194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Fishbone diagram — 6M method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514600" y="3118104"/>
            <a:ext cx="640080" cy="173736"/>
          </a:xfrm>
          <a:prstGeom prst="roundRect">
            <a:avLst>
              <a:gd name="adj" fmla="val 1578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14600" y="3118104"/>
            <a:ext cx="640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200400" y="3118104"/>
            <a:ext cx="2194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20% causing 80% of issues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514600" y="3319272"/>
            <a:ext cx="640080" cy="173736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14600" y="3319272"/>
            <a:ext cx="640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FMEA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200400" y="3319272"/>
            <a:ext cx="2194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 &amp; Effects Analysis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623560" y="987552"/>
            <a:ext cx="3337560" cy="34747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15000" y="10058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Effectiveness Criteria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Wirksamkeitskriterien · Critères d'efficacité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715000" y="1463040"/>
            <a:ext cx="3154680" cy="411480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15000" y="1463040"/>
            <a:ext cx="822960" cy="411480"/>
          </a:xfrm>
          <a:prstGeom prst="roundRect">
            <a:avLst>
              <a:gd name="adj" fmla="val 1111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15000" y="1463040"/>
            <a:ext cx="8229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 Recurrence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583680" y="1463040"/>
            <a:ext cx="224028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the same nonconformity recurred since CA implementation?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715000" y="1947672"/>
            <a:ext cx="3154680" cy="411480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 w="6350">
            <a:solidFill>
              <a:srgbClr val="1A4FA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715000" y="1947672"/>
            <a:ext cx="822960" cy="411480"/>
          </a:xfrm>
          <a:prstGeom prst="roundRect">
            <a:avLst>
              <a:gd name="adj" fmla="val 11111"/>
            </a:avLst>
          </a:prstGeom>
          <a:solidFill>
            <a:srgbClr val="1A4FA8"/>
          </a:solidFill>
          <a:ln w="12700">
            <a:solidFill>
              <a:srgbClr val="1A4FA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15000" y="1947672"/>
            <a:ext cx="8229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KPIs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583680" y="1947672"/>
            <a:ext cx="224028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 relevant process KPIs now within targets?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715000" y="2432304"/>
            <a:ext cx="3154680" cy="411480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15000" y="2432304"/>
            <a:ext cx="822960" cy="411480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15000" y="2432304"/>
            <a:ext cx="8229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583680" y="2432304"/>
            <a:ext cx="224028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objective evidence records available?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715000" y="2916936"/>
            <a:ext cx="3154680" cy="411480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715000" y="2916936"/>
            <a:ext cx="822960" cy="411480"/>
          </a:xfrm>
          <a:prstGeom prst="roundRect">
            <a:avLst>
              <a:gd name="adj" fmla="val 1111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715000" y="2916936"/>
            <a:ext cx="8229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Update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583680" y="2916936"/>
            <a:ext cx="224028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documents/procedures been updated?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715000" y="3401568"/>
            <a:ext cx="3154680" cy="411480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715000" y="3401568"/>
            <a:ext cx="822960" cy="411480"/>
          </a:xfrm>
          <a:prstGeom prst="roundRect">
            <a:avLst>
              <a:gd name="adj" fmla="val 1111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15000" y="3401568"/>
            <a:ext cx="8229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583680" y="3401568"/>
            <a:ext cx="224028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affected staff been retrained?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715000" y="3886200"/>
            <a:ext cx="3154680" cy="411480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715000" y="3886200"/>
            <a:ext cx="822960" cy="41148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715000" y="3886200"/>
            <a:ext cx="8229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Verified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583680" y="3886200"/>
            <a:ext cx="224028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a follow-up audit confirmed the fix?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normwise.cloud  ·  ISO 9001 · ISO 14001 · ISO 45001  ·  © 2026 NormWise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NormWise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0" y="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P-05/06 · Competence, Training &amp; Document Control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ISO §7.2 / §7.5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65836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583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9001·14001·45001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713232"/>
            <a:ext cx="4251960" cy="3822192"/>
          </a:xfrm>
          <a:prstGeom prst="roundRect">
            <a:avLst>
              <a:gd name="adj" fmla="val 2392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74980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P-05 · Competence &amp; Training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00584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Kompetenz &amp; Schulung  ·  Compétence &amp; Formation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261872"/>
            <a:ext cx="3977640" cy="420624"/>
          </a:xfrm>
          <a:prstGeom prst="roundRect">
            <a:avLst>
              <a:gd name="adj" fmla="val 17391"/>
            </a:avLst>
          </a:prstGeom>
          <a:solidFill>
            <a:srgbClr val="1A4FA8"/>
          </a:solidFill>
          <a:ln w="12700">
            <a:solidFill>
              <a:srgbClr val="1A4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261872"/>
            <a:ext cx="3977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Required Competences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Kompetenzanforderungen / Compétences requises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04288" y="1682496"/>
            <a:ext cx="0" cy="7315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15" name="Shape 13"/>
          <p:cNvSpPr/>
          <p:nvPr/>
        </p:nvSpPr>
        <p:spPr>
          <a:xfrm>
            <a:off x="320040" y="1755648"/>
            <a:ext cx="3977640" cy="420624"/>
          </a:xfrm>
          <a:prstGeom prst="roundRect">
            <a:avLst>
              <a:gd name="adj" fmla="val 17391"/>
            </a:avLst>
          </a:prstGeom>
          <a:solidFill>
            <a:srgbClr val="1A4FA8"/>
          </a:solidFill>
          <a:ln w="12700">
            <a:solidFill>
              <a:srgbClr val="1A4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55648"/>
            <a:ext cx="3977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Current Competences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Ist-Analyse / Évaluation des compétences actuelles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04288" y="2176272"/>
            <a:ext cx="0" cy="7315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18" name="Shape 16"/>
          <p:cNvSpPr/>
          <p:nvPr/>
        </p:nvSpPr>
        <p:spPr>
          <a:xfrm>
            <a:off x="320040" y="2249424"/>
            <a:ext cx="3977640" cy="420624"/>
          </a:xfrm>
          <a:prstGeom prst="roundRect">
            <a:avLst>
              <a:gd name="adj" fmla="val 1739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249424"/>
            <a:ext cx="3977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Gaps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Lückenanalyse / Analyse des écarts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04288" y="2670048"/>
            <a:ext cx="0" cy="7315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21" name="Shape 19"/>
          <p:cNvSpPr/>
          <p:nvPr/>
        </p:nvSpPr>
        <p:spPr>
          <a:xfrm>
            <a:off x="320040" y="2743200"/>
            <a:ext cx="3977640" cy="420624"/>
          </a:xfrm>
          <a:prstGeom prst="roundRect">
            <a:avLst>
              <a:gd name="adj" fmla="val 1739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743200"/>
            <a:ext cx="3977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&amp; Deliver Training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Schulungsplan / Plan de formation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04288" y="3163824"/>
            <a:ext cx="0" cy="7315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24" name="Shape 22"/>
          <p:cNvSpPr/>
          <p:nvPr/>
        </p:nvSpPr>
        <p:spPr>
          <a:xfrm>
            <a:off x="320040" y="3236976"/>
            <a:ext cx="3977640" cy="420624"/>
          </a:xfrm>
          <a:prstGeom prst="roundRect">
            <a:avLst>
              <a:gd name="adj" fmla="val 1739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236976"/>
            <a:ext cx="3977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Training Effectiveness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Wirksamkeitsprüfung / Évaluation efficacité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304288" y="3657600"/>
            <a:ext cx="0" cy="7315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27" name="Shape 25"/>
          <p:cNvSpPr/>
          <p:nvPr/>
        </p:nvSpPr>
        <p:spPr>
          <a:xfrm>
            <a:off x="320040" y="3730752"/>
            <a:ext cx="3977640" cy="420624"/>
          </a:xfrm>
          <a:prstGeom prst="roundRect">
            <a:avLst>
              <a:gd name="adj" fmla="val 1739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730752"/>
            <a:ext cx="3977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Competence Records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Kompetenzmatrix aktualisieren / MAJ dossiers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713232"/>
            <a:ext cx="4251960" cy="3822192"/>
          </a:xfrm>
          <a:prstGeom prst="roundRect">
            <a:avLst>
              <a:gd name="adj" fmla="val 2392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74980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P-06 · Document &amp; Record Control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100584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Dokumentenlenkung  ·  Maîtrise des documents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46320" y="1261872"/>
            <a:ext cx="3977640" cy="420624"/>
          </a:xfrm>
          <a:prstGeom prst="roundRect">
            <a:avLst>
              <a:gd name="adj" fmla="val 17391"/>
            </a:avLst>
          </a:prstGeom>
          <a:solidFill>
            <a:srgbClr val="1A4FA8"/>
          </a:solidFill>
          <a:ln w="12700">
            <a:solidFill>
              <a:srgbClr val="1A4F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1261872"/>
            <a:ext cx="3977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/ Draft Document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 erstellen / Créer le document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30568" y="1682496"/>
            <a:ext cx="0" cy="7315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35" name="Shape 33"/>
          <p:cNvSpPr/>
          <p:nvPr/>
        </p:nvSpPr>
        <p:spPr>
          <a:xfrm>
            <a:off x="4846320" y="1755648"/>
            <a:ext cx="3977640" cy="420624"/>
          </a:xfrm>
          <a:prstGeom prst="roundRect">
            <a:avLst>
              <a:gd name="adj" fmla="val 1739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1755648"/>
            <a:ext cx="3977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Approve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Prüfen &amp; Freigeben / Revue &amp; Approbation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30568" y="2176272"/>
            <a:ext cx="0" cy="7315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38" name="Shape 36"/>
          <p:cNvSpPr/>
          <p:nvPr/>
        </p:nvSpPr>
        <p:spPr>
          <a:xfrm>
            <a:off x="4846320" y="2249424"/>
            <a:ext cx="3977640" cy="420624"/>
          </a:xfrm>
          <a:prstGeom prst="roundRect">
            <a:avLst>
              <a:gd name="adj" fmla="val 1739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249424"/>
            <a:ext cx="3977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&amp; Distribute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Verteilen / Diffusion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30568" y="2670048"/>
            <a:ext cx="0" cy="7315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41" name="Shape 39"/>
          <p:cNvSpPr/>
          <p:nvPr/>
        </p:nvSpPr>
        <p:spPr>
          <a:xfrm>
            <a:off x="4846320" y="2743200"/>
            <a:ext cx="3977640" cy="420624"/>
          </a:xfrm>
          <a:prstGeom prst="roundRect">
            <a:avLst>
              <a:gd name="adj" fmla="val 17391"/>
            </a:avLst>
          </a:prstGeom>
          <a:solidFill>
            <a:srgbClr val="1A4FA8"/>
          </a:solidFill>
          <a:ln w="12700">
            <a:solidFill>
              <a:srgbClr val="1A4F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2743200"/>
            <a:ext cx="3977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Access &amp; Versions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Versionskontrolle / Contrôle versions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30568" y="3163824"/>
            <a:ext cx="0" cy="7315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44" name="Shape 42"/>
          <p:cNvSpPr/>
          <p:nvPr/>
        </p:nvSpPr>
        <p:spPr>
          <a:xfrm>
            <a:off x="4846320" y="3236976"/>
            <a:ext cx="3977640" cy="420624"/>
          </a:xfrm>
          <a:prstGeom prst="roundRect">
            <a:avLst>
              <a:gd name="adj" fmla="val 1739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236976"/>
            <a:ext cx="3977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 Review &amp; Update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Regelmäßige Überprüfung / Révision périodique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30568" y="3657600"/>
            <a:ext cx="0" cy="7315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47" name="Shape 45"/>
          <p:cNvSpPr/>
          <p:nvPr/>
        </p:nvSpPr>
        <p:spPr>
          <a:xfrm>
            <a:off x="4846320" y="3730752"/>
            <a:ext cx="3977640" cy="420624"/>
          </a:xfrm>
          <a:prstGeom prst="roundRect">
            <a:avLst>
              <a:gd name="adj" fmla="val 1739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3730752"/>
            <a:ext cx="3977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 / Retain Records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Aufbewahrung / Conservation enregistrements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normwise.cloud  ·  ISO 9001 · ISO 14001 · ISO 45001  ·  © 2026 NormWise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NormWise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0" y="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P-08 · Environmental Aspect Management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ISO 14001 §6.1.2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65836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583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14001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71600" y="658368"/>
            <a:ext cx="7452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Umweltaspekte  |  Umweltaspekte  |  Aspects environnementaux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" y="1005840"/>
            <a:ext cx="1005840" cy="47548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100584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/ Change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43000" y="1243584"/>
            <a:ext cx="2743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13" name="Shape 11"/>
          <p:cNvSpPr/>
          <p:nvPr/>
        </p:nvSpPr>
        <p:spPr>
          <a:xfrm>
            <a:off x="1417320" y="1005840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1005840"/>
            <a:ext cx="1371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Identify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 &amp; Aspects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88920" y="1243584"/>
            <a:ext cx="2743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16" name="Shape 14"/>
          <p:cNvSpPr/>
          <p:nvPr/>
        </p:nvSpPr>
        <p:spPr>
          <a:xfrm>
            <a:off x="3063240" y="1005840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1005840"/>
            <a:ext cx="1371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Determine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Impacts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1243584"/>
            <a:ext cx="2743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19" name="Shape 17"/>
          <p:cNvSpPr/>
          <p:nvPr/>
        </p:nvSpPr>
        <p:spPr>
          <a:xfrm>
            <a:off x="4709160" y="1005840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005840"/>
            <a:ext cx="1371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Evaluate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1243584"/>
            <a:ext cx="2743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22" name="Shape 20"/>
          <p:cNvSpPr/>
          <p:nvPr/>
        </p:nvSpPr>
        <p:spPr>
          <a:xfrm>
            <a:off x="6355080" y="1005840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005840"/>
            <a:ext cx="1371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Set Objectives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Controls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26680" y="1243584"/>
            <a:ext cx="2743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25" name="Shape 23"/>
          <p:cNvSpPr/>
          <p:nvPr/>
        </p:nvSpPr>
        <p:spPr>
          <a:xfrm>
            <a:off x="8001000" y="1005840"/>
            <a:ext cx="960120" cy="47548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01000" y="100584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Review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" y="1691640"/>
            <a:ext cx="42062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17190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Environmental Aspects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Häufige Umweltaspekte · Aspects environnementaux courants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148840"/>
            <a:ext cx="1920240" cy="402336"/>
          </a:xfrm>
          <a:prstGeom prst="roundRect">
            <a:avLst>
              <a:gd name="adj" fmla="val 11364"/>
            </a:avLst>
          </a:prstGeom>
          <a:solidFill>
            <a:srgbClr val="000000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148840"/>
            <a:ext cx="502920" cy="402336"/>
          </a:xfrm>
          <a:prstGeom prst="roundRect">
            <a:avLst>
              <a:gd name="adj" fmla="val 1136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14884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22960" y="2148840"/>
            <a:ext cx="13258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Electricity, gas, heating / Strom, Gas / Énergie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2624328"/>
            <a:ext cx="1920240" cy="402336"/>
          </a:xfrm>
          <a:prstGeom prst="roundRect">
            <a:avLst>
              <a:gd name="adj" fmla="val 11364"/>
            </a:avLst>
          </a:prstGeom>
          <a:solidFill>
            <a:srgbClr val="000000"/>
          </a:solidFill>
          <a:ln w="6350">
            <a:solidFill>
              <a:srgbClr val="1A4F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624328"/>
            <a:ext cx="502920" cy="402336"/>
          </a:xfrm>
          <a:prstGeom prst="roundRect">
            <a:avLst>
              <a:gd name="adj" fmla="val 11364"/>
            </a:avLst>
          </a:prstGeom>
          <a:solidFill>
            <a:srgbClr val="1A4FA8"/>
          </a:solidFill>
          <a:ln w="12700">
            <a:solidFill>
              <a:srgbClr val="1A4F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624328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22960" y="2624328"/>
            <a:ext cx="13258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usage, wastewater / Wasser / Eau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3099816"/>
            <a:ext cx="1920240" cy="402336"/>
          </a:xfrm>
          <a:prstGeom prst="roundRect">
            <a:avLst>
              <a:gd name="adj" fmla="val 11364"/>
            </a:avLst>
          </a:prstGeom>
          <a:solidFill>
            <a:srgbClr val="000000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3099816"/>
            <a:ext cx="502920" cy="402336"/>
          </a:xfrm>
          <a:prstGeom prst="roundRect">
            <a:avLst>
              <a:gd name="adj" fmla="val 1136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099816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22960" y="3099816"/>
            <a:ext cx="13258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waste, recycling / Abfall / Déchets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3575304"/>
            <a:ext cx="1920240" cy="402336"/>
          </a:xfrm>
          <a:prstGeom prst="roundRect">
            <a:avLst>
              <a:gd name="adj" fmla="val 11364"/>
            </a:avLst>
          </a:prstGeom>
          <a:solidFill>
            <a:srgbClr val="00000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3575304"/>
            <a:ext cx="502920" cy="402336"/>
          </a:xfrm>
          <a:prstGeom prst="roundRect">
            <a:avLst>
              <a:gd name="adj" fmla="val 11364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57530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Emissions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22960" y="3575304"/>
            <a:ext cx="13258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emissions, GHG / Emissionen / Émissions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331720" y="2148840"/>
            <a:ext cx="1920240" cy="402336"/>
          </a:xfrm>
          <a:prstGeom prst="roundRect">
            <a:avLst>
              <a:gd name="adj" fmla="val 11364"/>
            </a:avLst>
          </a:prstGeom>
          <a:solidFill>
            <a:srgbClr val="000000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31720" y="2148840"/>
            <a:ext cx="502920" cy="402336"/>
          </a:xfrm>
          <a:prstGeom prst="roundRect">
            <a:avLst>
              <a:gd name="adj" fmla="val 11364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31720" y="214884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880360" y="2148840"/>
            <a:ext cx="13258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materials, chemicals / Rohstoffe / Matières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331720" y="2624328"/>
            <a:ext cx="1920240" cy="402336"/>
          </a:xfrm>
          <a:prstGeom prst="roundRect">
            <a:avLst>
              <a:gd name="adj" fmla="val 11364"/>
            </a:avLst>
          </a:prstGeom>
          <a:solidFill>
            <a:srgbClr val="00000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31720" y="2624328"/>
            <a:ext cx="502920" cy="402336"/>
          </a:xfrm>
          <a:prstGeom prst="roundRect">
            <a:avLst>
              <a:gd name="adj" fmla="val 1136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31720" y="2624328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880360" y="2624328"/>
            <a:ext cx="13258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Fleet, logistics / Fuhrpark / Transport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331720" y="3099816"/>
            <a:ext cx="1920240" cy="402336"/>
          </a:xfrm>
          <a:prstGeom prst="roundRect">
            <a:avLst>
              <a:gd name="adj" fmla="val 11364"/>
            </a:avLst>
          </a:prstGeom>
          <a:solidFill>
            <a:srgbClr val="000000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31720" y="3099816"/>
            <a:ext cx="502920" cy="402336"/>
          </a:xfrm>
          <a:prstGeom prst="roundRect">
            <a:avLst>
              <a:gd name="adj" fmla="val 1136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31720" y="3099816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880360" y="3099816"/>
            <a:ext cx="13258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 contamination / Boden / Sol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331720" y="3575304"/>
            <a:ext cx="1920240" cy="402336"/>
          </a:xfrm>
          <a:prstGeom prst="roundRect">
            <a:avLst>
              <a:gd name="adj" fmla="val 11364"/>
            </a:avLst>
          </a:prstGeom>
          <a:solidFill>
            <a:srgbClr val="000000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31720" y="3575304"/>
            <a:ext cx="502920" cy="402336"/>
          </a:xfrm>
          <a:prstGeom prst="roundRect">
            <a:avLst>
              <a:gd name="adj" fmla="val 1136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331720" y="357530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2880360" y="3575304"/>
            <a:ext cx="13258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pollution / Lärm / Bruit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617720" y="1691640"/>
            <a:ext cx="43434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09160" y="171907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 Evaluation Criteria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Signifikanzbewertung · Critères d'évaluation significative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709160" y="2148840"/>
            <a:ext cx="4160520" cy="27432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6350">
            <a:solidFill>
              <a:srgbClr val="1A4FA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0" y="214884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/ Ausmaß / Échelle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extent of impact (local, regional, global)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709160" y="2468880"/>
            <a:ext cx="4160520" cy="27432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6350">
            <a:solidFill>
              <a:srgbClr val="1A4FA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54880" y="24688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/ Schwere / Gravité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and reversibility of the impact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709160" y="2788920"/>
            <a:ext cx="4160520" cy="27432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6350">
            <a:solidFill>
              <a:srgbClr val="1A4FA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54880" y="278892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/ Wahrscheinlichkeit / Probabilité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 of occurrence under normal conditions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709160" y="3108960"/>
            <a:ext cx="4160520" cy="27432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6350">
            <a:solidFill>
              <a:srgbClr val="1A4FA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54880" y="31089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Rechtlich / Légal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 legal or regulatory requirements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709160" y="3429000"/>
            <a:ext cx="4160520" cy="27432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6350">
            <a:solidFill>
              <a:srgbClr val="1A4FA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54880" y="34290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/ Parteien / Parties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Concerns raised by interested parties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709160" y="3749040"/>
            <a:ext cx="4160520" cy="27432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6350">
            <a:solidFill>
              <a:srgbClr val="1A4FA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54880" y="374904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/ Geschäft / Affaires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on business objectives and reputation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normwise.cloud  ·  ISO 9001 · ISO 14001 · ISO 45001  ·  © 2026 NormWise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NormWise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0" y="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P-09 · Hazard Identification &amp; OH&amp;S Risk Assessment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ISO 45001 §6.1.2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65836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583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45001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71600" y="658368"/>
            <a:ext cx="7452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Gefährdungsbeurteilung  |  Gefährdungsbeurteilung  |  Évaluation des risques SST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868680"/>
            <a:ext cx="41605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89611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Hierarchy of Controls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Maßnahmenhierarchie · Hiérarchie des mesures de prévention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325880"/>
            <a:ext cx="3977640" cy="402336"/>
          </a:xfrm>
          <a:prstGeom prst="roundRect">
            <a:avLst>
              <a:gd name="adj" fmla="val 11364"/>
            </a:avLst>
          </a:prstGeom>
          <a:solidFill>
            <a:srgbClr val="000000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325880"/>
            <a:ext cx="960120" cy="402336"/>
          </a:xfrm>
          <a:prstGeom prst="roundRect">
            <a:avLst>
              <a:gd name="adj" fmla="val 1136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325880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ELIMINATION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280160" y="1325880"/>
            <a:ext cx="292608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the hazard / Gefährdung beseitigen / Élimination du danger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11880" y="132588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effective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74320" y="1801368"/>
            <a:ext cx="3977640" cy="402336"/>
          </a:xfrm>
          <a:prstGeom prst="roundRect">
            <a:avLst>
              <a:gd name="adj" fmla="val 11364"/>
            </a:avLst>
          </a:prstGeom>
          <a:solidFill>
            <a:srgbClr val="000000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1801368"/>
            <a:ext cx="960120" cy="402336"/>
          </a:xfrm>
          <a:prstGeom prst="roundRect">
            <a:avLst>
              <a:gd name="adj" fmla="val 1136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801368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SUBSTITUTION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280160" y="1801368"/>
            <a:ext cx="292608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less hazardous / Ersetzen / Substitution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276856"/>
            <a:ext cx="3977640" cy="402336"/>
          </a:xfrm>
          <a:prstGeom prst="roundRect">
            <a:avLst>
              <a:gd name="adj" fmla="val 11364"/>
            </a:avLst>
          </a:prstGeom>
          <a:solidFill>
            <a:srgbClr val="000000"/>
          </a:solidFill>
          <a:ln w="6350">
            <a:solidFill>
              <a:srgbClr val="1A4F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276856"/>
            <a:ext cx="960120" cy="402336"/>
          </a:xfrm>
          <a:prstGeom prst="roundRect">
            <a:avLst>
              <a:gd name="adj" fmla="val 11364"/>
            </a:avLst>
          </a:prstGeom>
          <a:solidFill>
            <a:srgbClr val="1A4FA8"/>
          </a:solidFill>
          <a:ln w="12700">
            <a:solidFill>
              <a:srgbClr val="1A4F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276856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ENGINEERING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280160" y="2276856"/>
            <a:ext cx="292608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people from hazard / Technisch / Ingénierie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2752344"/>
            <a:ext cx="3977640" cy="402336"/>
          </a:xfrm>
          <a:prstGeom prst="roundRect">
            <a:avLst>
              <a:gd name="adj" fmla="val 11364"/>
            </a:avLst>
          </a:prstGeom>
          <a:solidFill>
            <a:srgbClr val="000000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752344"/>
            <a:ext cx="960120" cy="402336"/>
          </a:xfrm>
          <a:prstGeom prst="roundRect">
            <a:avLst>
              <a:gd name="adj" fmla="val 1136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752344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ADMINISTRATIVE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280160" y="2752344"/>
            <a:ext cx="292608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how people work / Organisatorisch / Administration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3227832"/>
            <a:ext cx="3977640" cy="402336"/>
          </a:xfrm>
          <a:prstGeom prst="roundRect">
            <a:avLst>
              <a:gd name="adj" fmla="val 11364"/>
            </a:avLst>
          </a:prstGeom>
          <a:solidFill>
            <a:srgbClr val="00000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227832"/>
            <a:ext cx="960120" cy="402336"/>
          </a:xfrm>
          <a:prstGeom prst="roundRect">
            <a:avLst>
              <a:gd name="adj" fmla="val 11364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227832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PPE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280160" y="3227832"/>
            <a:ext cx="292608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individual / PSA / EPI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11880" y="322783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effective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72000" y="868680"/>
            <a:ext cx="43891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8961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OH&amp;S Risk Assessment Process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Gefährdungsbeurteilungsprozess · Processus d'évaluation SST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1325880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1325880"/>
            <a:ext cx="42062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Identify all workplace hazards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Gefährdungen ermitteln / Identifier les dangers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66560" y="1728216"/>
            <a:ext cx="0" cy="7315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39" name="Shape 37"/>
          <p:cNvSpPr/>
          <p:nvPr/>
        </p:nvSpPr>
        <p:spPr>
          <a:xfrm>
            <a:off x="4663440" y="1801368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1801368"/>
            <a:ext cx="42062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Assess risk (Likelihood × Severity)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Risiko bewerten / Évaluer les risques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66560" y="2203704"/>
            <a:ext cx="0" cy="7315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42" name="Shape 40"/>
          <p:cNvSpPr/>
          <p:nvPr/>
        </p:nvSpPr>
        <p:spPr>
          <a:xfrm>
            <a:off x="4663440" y="2276856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1A4FA8"/>
          </a:solidFill>
          <a:ln w="12700">
            <a:solidFill>
              <a:srgbClr val="1A4F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2276856"/>
            <a:ext cx="42062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Determine existing controls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Bestehende Maßnahmen / Mesures existantes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66560" y="2679192"/>
            <a:ext cx="0" cy="7315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45" name="Shape 43"/>
          <p:cNvSpPr/>
          <p:nvPr/>
        </p:nvSpPr>
        <p:spPr>
          <a:xfrm>
            <a:off x="4663440" y="2752344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2752344"/>
            <a:ext cx="42062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Evaluate residual risk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Restrisiko / Risque résiduel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766560" y="3154680"/>
            <a:ext cx="0" cy="7315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48" name="Shape 46"/>
          <p:cNvSpPr/>
          <p:nvPr/>
        </p:nvSpPr>
        <p:spPr>
          <a:xfrm>
            <a:off x="4663440" y="3227832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3227832"/>
            <a:ext cx="42062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Apply hierarchy of controls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Maßnahmenhierarchie / Hiérarchie mesures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766560" y="3630168"/>
            <a:ext cx="0" cy="7315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/>
          </a:ln>
        </p:spPr>
      </p:sp>
      <p:sp>
        <p:nvSpPr>
          <p:cNvPr id="51" name="Shape 49"/>
          <p:cNvSpPr/>
          <p:nvPr/>
        </p:nvSpPr>
        <p:spPr>
          <a:xfrm>
            <a:off x="4663440" y="3703320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3703320"/>
            <a:ext cx="42062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Monitor &amp; review annually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Überwachen &amp; überprüfen / Surveiller &amp; réviser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normwise.cloud  ·  ISO 9001 · ISO 14001 · ISO 45001  ·  © 2026 NormWise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NormWise — ISO Process Flows</dc:title>
  <dc:subject>PptxGenJS Presentation</dc:subject>
  <dc:creator>NormWise</dc:creator>
  <cp:lastModifiedBy>NormWise</cp:lastModifiedBy>
  <cp:revision>1</cp:revision>
  <dcterms:created xsi:type="dcterms:W3CDTF">2026-05-07T13:57:20Z</dcterms:created>
  <dcterms:modified xsi:type="dcterms:W3CDTF">2026-05-07T13:57:20Z</dcterms:modified>
</cp:coreProperties>
</file>